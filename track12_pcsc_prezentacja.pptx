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76EB29-7C67-4387-936F-ADD08188B4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D58DF-70F4-4CEA-B3C1-954ED1B67B0A}"/>
              </a:ext>
            </a:extLst>
          </p:cNvPr>
          <p:cNvSpPr>
            <a:spLocks noGrp="1"/>
          </p:cNvSpPr>
          <p:nvPr/>
        </p:nvSpPr>
        <p:spPr>
          <a:xfrm>
            <a:off x="552450" y="428625"/>
            <a:ext cx="247650" cy="28575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F22B4-F5EF-4105-8020-FC66369E0A89}"/>
              </a:ext>
            </a:extLst>
          </p:cNvPr>
          <p:cNvSpPr>
            <a:spLocks noGrp="1"/>
          </p:cNvSpPr>
          <p:nvPr/>
        </p:nvSpPr>
        <p:spPr>
          <a:xfrm>
            <a:off x="895350" y="3238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2DD4BF"/>
                </a:solidFill>
                <a:latin typeface="Aptos"/>
                <a:ea typeface="Aptos"/>
                <a:cs typeface="Aptos"/>
              </a:rPr>
              <a:t>PROJEKT</a:t>
            </a:r>
            <a:r>
              <a:rPr lang="pl-PL" sz="975" b="1" dirty="0">
                <a:solidFill>
                  <a:srgbClr val="2DD4BF"/>
                </a:solidFill>
                <a:latin typeface="Aptos"/>
                <a:ea typeface="Aptos"/>
                <a:cs typeface="Aptos"/>
              </a:rPr>
              <a:t>: AI – wyszukiwanie Track 1/2</a:t>
            </a:r>
            <a:endParaRPr sz="975" b="1" dirty="0">
              <a:solidFill>
                <a:srgbClr val="2DD4B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702CB-1A1A-4AD6-BE5A-57ADC6526D2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4953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Odczyt Track 1/2 bez ujawniania danych karty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B13952-2511-4AA3-9BFE-5D357E97AA48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476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Program korzysta z PC/SC i EMV, znajduje publiczne rekordy aplikacji, a do JSON zapisuje wyłącznie zamaskowane ścieżki.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6BB24-0B7F-4B51-96EA-257AAE584D0D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1428750" cy="323850"/>
          </a:xfrm>
          <a:prstGeom prst="rect">
            <a:avLst/>
          </a:prstGeom>
          <a:solidFill>
            <a:srgbClr val="172A37"/>
          </a:solidFill>
          <a:ln w="9525">
            <a:solidFill>
              <a:srgbClr val="F59E0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DAC8B-8869-46E8-B411-21B4A1506491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Track 1: tag 56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262888-9FDB-4122-9CE6-2090D0ACCFEB}"/>
              </a:ext>
            </a:extLst>
          </p:cNvPr>
          <p:cNvSpPr>
            <a:spLocks noGrp="1"/>
          </p:cNvSpPr>
          <p:nvPr/>
        </p:nvSpPr>
        <p:spPr>
          <a:xfrm>
            <a:off x="2114550" y="3143250"/>
            <a:ext cx="1428750" cy="323850"/>
          </a:xfrm>
          <a:prstGeom prst="rect">
            <a:avLst/>
          </a:prstGeom>
          <a:solidFill>
            <a:srgbClr val="172A37"/>
          </a:solidFill>
          <a:ln w="9525">
            <a:solidFill>
              <a:srgbClr val="2DD4B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8E0E1-3799-49B7-BF89-AA9865CACA46}"/>
              </a:ext>
            </a:extLst>
          </p:cNvPr>
          <p:cNvSpPr>
            <a:spLocks noGrp="1"/>
          </p:cNvSpPr>
          <p:nvPr/>
        </p:nvSpPr>
        <p:spPr>
          <a:xfrm>
            <a:off x="2247900" y="3209925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Track 2: 57 / 9F6B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AC544-A41A-45BB-A33E-5AEBFC21CCD3}"/>
              </a:ext>
            </a:extLst>
          </p:cNvPr>
          <p:cNvSpPr>
            <a:spLocks noGrp="1"/>
          </p:cNvSpPr>
          <p:nvPr/>
        </p:nvSpPr>
        <p:spPr>
          <a:xfrm>
            <a:off x="3676650" y="3143250"/>
            <a:ext cx="1619250" cy="323850"/>
          </a:xfrm>
          <a:prstGeom prst="rect">
            <a:avLst/>
          </a:prstGeom>
          <a:solidFill>
            <a:srgbClr val="172A37"/>
          </a:solidFill>
          <a:ln w="9525">
            <a:solidFill>
              <a:srgbClr val="60A5FA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7A795-E723-4226-A843-1656C68D9125}"/>
              </a:ext>
            </a:extLst>
          </p:cNvPr>
          <p:cNvSpPr>
            <a:spLocks noGrp="1"/>
          </p:cNvSpPr>
          <p:nvPr/>
        </p:nvSpPr>
        <p:spPr>
          <a:xfrm>
            <a:off x="3810000" y="3209925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PAN: tylko końcówka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D61AB2-0955-4E30-AE56-653780E760E4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4762500" cy="3143250"/>
          </a:xfrm>
          <a:prstGeom prst="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39EC24-5C1B-47FF-8013-AFFFD98CD098}"/>
              </a:ext>
            </a:extLst>
          </p:cNvPr>
          <p:cNvSpPr>
            <a:spLocks noGrp="1"/>
          </p:cNvSpPr>
          <p:nvPr/>
        </p:nvSpPr>
        <p:spPr>
          <a:xfrm>
            <a:off x="6267450" y="1504950"/>
            <a:ext cx="4419600" cy="2838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</a:t>
            </a:r>
            <a:r>
              <a:rPr sz="1125" b="0" dirty="0" err="1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tracks_found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": true,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"track1_count": 0,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"track2_count": 1,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"tracks": [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"track": "track2",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"track2_masked":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  "************</a:t>
            </a:r>
            <a:r>
              <a:rPr lang="pl-PL"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649D***************"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]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125AD-6585-4477-8430-A9491E918812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4095750" cy="28575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79D597-2D0E-4D33-9904-232A538529D8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38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Najważniejsza zasada: maskowanie jest częścią kodu, więc pełne dane nie trafiają do pliku wynikowego.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E7280C-B38F-4C28-8F8C-62E59FA7A6F1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5395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092967B-B07E-4FE4-8C78-293494C84F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C1E-0318-4F3B-A51F-434574ED6805}"/>
              </a:ext>
            </a:extLst>
          </p:cNvPr>
          <p:cNvSpPr>
            <a:spLocks noGrp="1"/>
          </p:cNvSpPr>
          <p:nvPr/>
        </p:nvSpPr>
        <p:spPr>
          <a:xfrm>
            <a:off x="552450" y="428625"/>
            <a:ext cx="247650" cy="28575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D32B3-05F1-4346-ABDB-58FF7A88F7BB}"/>
              </a:ext>
            </a:extLst>
          </p:cNvPr>
          <p:cNvSpPr>
            <a:spLocks noGrp="1"/>
          </p:cNvSpPr>
          <p:nvPr/>
        </p:nvSpPr>
        <p:spPr>
          <a:xfrm>
            <a:off x="895350" y="3238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lang="pl-PL" sz="975" b="1" dirty="0">
                <a:solidFill>
                  <a:srgbClr val="2DD4BF"/>
                </a:solidFill>
                <a:latin typeface="Aptos"/>
                <a:ea typeface="Aptos"/>
                <a:cs typeface="Aptos"/>
              </a:rPr>
              <a:t>PROJEKT: AI – wyszukiwanie Track 1/2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77FCD-A146-42A5-8BF0-333A07CD9D3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3345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Kod nie czyta „wszystkiego”; przechodzi minimalną ścieżkę EMV.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9866E-5CA9-47ED-9BFF-0BD955EE0297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Najpierw wybierana jest aplikacja płatnicza, potem GPO zwraca AFL, a skrypt skanuje tylko rekordy wskazane przez kartę.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52CE9-9C1E-4350-8055-4DBDC3CCF040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1695450" cy="1181100"/>
          </a:xfrm>
          <a:prstGeom prst="rect">
            <a:avLst/>
          </a:prstGeom>
          <a:solidFill>
            <a:srgbClr val="152434"/>
          </a:solidFill>
          <a:ln w="19050">
            <a:solidFill>
              <a:srgbClr val="60A5FA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4EBC0F-7386-474A-A8F3-D9F4F7536474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23850" cy="32385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555F5-90B8-425C-8F34-F368C7ADF983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79FE32-C053-499E-8A09-71C712F71A10}"/>
              </a:ext>
            </a:extLst>
          </p:cNvPr>
          <p:cNvSpPr>
            <a:spLocks noGrp="1"/>
          </p:cNvSpPr>
          <p:nvPr/>
        </p:nvSpPr>
        <p:spPr>
          <a:xfrm>
            <a:off x="1104900" y="32385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PC/SC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3C7B0C-BDC2-4EA6-80FE-44B5AF3FA928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1352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winscard.dll i SCardTransmit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D35653-307E-496D-A8B7-F13F9F233693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1695450" cy="1181100"/>
          </a:xfrm>
          <a:prstGeom prst="rect">
            <a:avLst/>
          </a:prstGeom>
          <a:solidFill>
            <a:srgbClr val="152434"/>
          </a:solidFill>
          <a:ln w="19050">
            <a:solidFill>
              <a:srgbClr val="2DD4B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BECC4A-E0CA-4453-90A3-A7E9AEF109DF}"/>
              </a:ext>
            </a:extLst>
          </p:cNvPr>
          <p:cNvSpPr>
            <a:spLocks noGrp="1"/>
          </p:cNvSpPr>
          <p:nvPr/>
        </p:nvSpPr>
        <p:spPr>
          <a:xfrm>
            <a:off x="2705100" y="3238500"/>
            <a:ext cx="323850" cy="3238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07A94-A41C-48BD-A6DB-FF1627701A84}"/>
              </a:ext>
            </a:extLst>
          </p:cNvPr>
          <p:cNvSpPr>
            <a:spLocks noGrp="1"/>
          </p:cNvSpPr>
          <p:nvPr/>
        </p:nvSpPr>
        <p:spPr>
          <a:xfrm>
            <a:off x="2705100" y="32956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8F8A8-F23A-4C5C-9B00-7416AC121E31}"/>
              </a:ext>
            </a:extLst>
          </p:cNvPr>
          <p:cNvSpPr>
            <a:spLocks noGrp="1"/>
          </p:cNvSpPr>
          <p:nvPr/>
        </p:nvSpPr>
        <p:spPr>
          <a:xfrm>
            <a:off x="3124200" y="32385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295AD3-9A90-4A66-B1E2-B2240D523A35}"/>
              </a:ext>
            </a:extLst>
          </p:cNvPr>
          <p:cNvSpPr>
            <a:spLocks noGrp="1"/>
          </p:cNvSpPr>
          <p:nvPr/>
        </p:nvSpPr>
        <p:spPr>
          <a:xfrm>
            <a:off x="2743200" y="3638550"/>
            <a:ext cx="1352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PSE lub znany AID aplikacji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FEB697-1734-4873-920F-7F43DBF56A4B}"/>
              </a:ext>
            </a:extLst>
          </p:cNvPr>
          <p:cNvSpPr>
            <a:spLocks noGrp="1"/>
          </p:cNvSpPr>
          <p:nvPr/>
        </p:nvSpPr>
        <p:spPr>
          <a:xfrm>
            <a:off x="4591050" y="3086100"/>
            <a:ext cx="1695450" cy="1181100"/>
          </a:xfrm>
          <a:prstGeom prst="rect">
            <a:avLst/>
          </a:prstGeom>
          <a:solidFill>
            <a:srgbClr val="152434"/>
          </a:solidFill>
          <a:ln w="19050">
            <a:solidFill>
              <a:srgbClr val="F59E0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0B31E8-3CF8-47E8-93D5-5F075F84113D}"/>
              </a:ext>
            </a:extLst>
          </p:cNvPr>
          <p:cNvSpPr>
            <a:spLocks noGrp="1"/>
          </p:cNvSpPr>
          <p:nvPr/>
        </p:nvSpPr>
        <p:spPr>
          <a:xfrm>
            <a:off x="4724400" y="3238500"/>
            <a:ext cx="323850" cy="3238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31341B-ABA9-47B1-825F-889B289CB487}"/>
              </a:ext>
            </a:extLst>
          </p:cNvPr>
          <p:cNvSpPr>
            <a:spLocks noGrp="1"/>
          </p:cNvSpPr>
          <p:nvPr/>
        </p:nvSpPr>
        <p:spPr>
          <a:xfrm>
            <a:off x="4724400" y="32956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6CF328-5C5D-412A-AD35-BE765C77484A}"/>
              </a:ext>
            </a:extLst>
          </p:cNvPr>
          <p:cNvSpPr>
            <a:spLocks noGrp="1"/>
          </p:cNvSpPr>
          <p:nvPr/>
        </p:nvSpPr>
        <p:spPr>
          <a:xfrm>
            <a:off x="5143500" y="32385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GPO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688748-D705-4ACB-B30E-8AB045041281}"/>
              </a:ext>
            </a:extLst>
          </p:cNvPr>
          <p:cNvSpPr>
            <a:spLocks noGrp="1"/>
          </p:cNvSpPr>
          <p:nvPr/>
        </p:nvSpPr>
        <p:spPr>
          <a:xfrm>
            <a:off x="4762500" y="3638550"/>
            <a:ext cx="1352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PDOL wypełniony wartościami lab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E0958C-5EB6-4BD2-BCCB-5C7EC22A77A9}"/>
              </a:ext>
            </a:extLst>
          </p:cNvPr>
          <p:cNvSpPr>
            <a:spLocks noGrp="1"/>
          </p:cNvSpPr>
          <p:nvPr/>
        </p:nvSpPr>
        <p:spPr>
          <a:xfrm>
            <a:off x="6610350" y="3086100"/>
            <a:ext cx="1695450" cy="1181100"/>
          </a:xfrm>
          <a:prstGeom prst="rect">
            <a:avLst/>
          </a:prstGeom>
          <a:solidFill>
            <a:srgbClr val="152434"/>
          </a:solidFill>
          <a:ln w="19050">
            <a:solidFill>
              <a:srgbClr val="2DD4BF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4EF23E-C304-4D31-9227-A202412853E3}"/>
              </a:ext>
            </a:extLst>
          </p:cNvPr>
          <p:cNvSpPr>
            <a:spLocks noGrp="1"/>
          </p:cNvSpPr>
          <p:nvPr/>
        </p:nvSpPr>
        <p:spPr>
          <a:xfrm>
            <a:off x="6743700" y="3238500"/>
            <a:ext cx="323850" cy="3238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F07388-FF47-4898-8111-4D4EDA566344}"/>
              </a:ext>
            </a:extLst>
          </p:cNvPr>
          <p:cNvSpPr>
            <a:spLocks noGrp="1"/>
          </p:cNvSpPr>
          <p:nvPr/>
        </p:nvSpPr>
        <p:spPr>
          <a:xfrm>
            <a:off x="6743700" y="32956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400067-940E-4006-B200-C43E1E897C93}"/>
              </a:ext>
            </a:extLst>
          </p:cNvPr>
          <p:cNvSpPr>
            <a:spLocks noGrp="1"/>
          </p:cNvSpPr>
          <p:nvPr/>
        </p:nvSpPr>
        <p:spPr>
          <a:xfrm>
            <a:off x="7162800" y="32385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AFL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94CBAA-7F26-404B-823D-117ED7F58DD2}"/>
              </a:ext>
            </a:extLst>
          </p:cNvPr>
          <p:cNvSpPr>
            <a:spLocks noGrp="1"/>
          </p:cNvSpPr>
          <p:nvPr/>
        </p:nvSpPr>
        <p:spPr>
          <a:xfrm>
            <a:off x="6781800" y="3638550"/>
            <a:ext cx="1352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lista SFI i numerów rekordów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742361-1799-4B93-B2F1-7552861D1443}"/>
              </a:ext>
            </a:extLst>
          </p:cNvPr>
          <p:cNvSpPr>
            <a:spLocks noGrp="1"/>
          </p:cNvSpPr>
          <p:nvPr/>
        </p:nvSpPr>
        <p:spPr>
          <a:xfrm>
            <a:off x="8629650" y="3086100"/>
            <a:ext cx="1695450" cy="1181100"/>
          </a:xfrm>
          <a:prstGeom prst="rect">
            <a:avLst/>
          </a:prstGeom>
          <a:solidFill>
            <a:srgbClr val="152434"/>
          </a:solidFill>
          <a:ln w="19050">
            <a:solidFill>
              <a:srgbClr val="60A5FA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E58D8E-8F6B-4C7B-AB88-89894076F9AE}"/>
              </a:ext>
            </a:extLst>
          </p:cNvPr>
          <p:cNvSpPr>
            <a:spLocks noGrp="1"/>
          </p:cNvSpPr>
          <p:nvPr/>
        </p:nvSpPr>
        <p:spPr>
          <a:xfrm>
            <a:off x="8763000" y="3238500"/>
            <a:ext cx="323850" cy="32385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C8006E-F53B-4C2E-85B5-D09162399272}"/>
              </a:ext>
            </a:extLst>
          </p:cNvPr>
          <p:cNvSpPr>
            <a:spLocks noGrp="1"/>
          </p:cNvSpPr>
          <p:nvPr/>
        </p:nvSpPr>
        <p:spPr>
          <a:xfrm>
            <a:off x="8763000" y="329565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DBA4A8-2F01-48F3-A1D2-445C2FEAC376}"/>
              </a:ext>
            </a:extLst>
          </p:cNvPr>
          <p:cNvSpPr>
            <a:spLocks noGrp="1"/>
          </p:cNvSpPr>
          <p:nvPr/>
        </p:nvSpPr>
        <p:spPr>
          <a:xfrm>
            <a:off x="9182100" y="3238500"/>
            <a:ext cx="10001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TLV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1F6125-5E39-4EAE-BAFF-53A4E38DB4BF}"/>
              </a:ext>
            </a:extLst>
          </p:cNvPr>
          <p:cNvSpPr>
            <a:spLocks noGrp="1"/>
          </p:cNvSpPr>
          <p:nvPr/>
        </p:nvSpPr>
        <p:spPr>
          <a:xfrm>
            <a:off x="8801100" y="3638550"/>
            <a:ext cx="1352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wyszukiwanie tagów 56, 57, 9F6B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C1D603-22C8-4CFD-B524-1E0149F82910}"/>
              </a:ext>
            </a:extLst>
          </p:cNvPr>
          <p:cNvSpPr>
            <a:spLocks noGrp="1"/>
          </p:cNvSpPr>
          <p:nvPr/>
        </p:nvSpPr>
        <p:spPr>
          <a:xfrm>
            <a:off x="1876425" y="3689350"/>
            <a:ext cx="7429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F95C19-7867-4012-9C50-8F5F6C195280}"/>
              </a:ext>
            </a:extLst>
          </p:cNvPr>
          <p:cNvSpPr>
            <a:spLocks noGrp="1"/>
          </p:cNvSpPr>
          <p:nvPr/>
        </p:nvSpPr>
        <p:spPr>
          <a:xfrm>
            <a:off x="2505075" y="3629025"/>
            <a:ext cx="1143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9840F0-EAD6-4C25-8879-479DC9119C4C}"/>
              </a:ext>
            </a:extLst>
          </p:cNvPr>
          <p:cNvSpPr>
            <a:spLocks noGrp="1"/>
          </p:cNvSpPr>
          <p:nvPr/>
        </p:nvSpPr>
        <p:spPr>
          <a:xfrm>
            <a:off x="3895725" y="3689350"/>
            <a:ext cx="7429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189020-4FC6-4C09-A7B1-DEE59030EFC3}"/>
              </a:ext>
            </a:extLst>
          </p:cNvPr>
          <p:cNvSpPr>
            <a:spLocks noGrp="1"/>
          </p:cNvSpPr>
          <p:nvPr/>
        </p:nvSpPr>
        <p:spPr>
          <a:xfrm>
            <a:off x="4524375" y="3629025"/>
            <a:ext cx="1143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89795A-94A7-4D81-AE71-601323A2E177}"/>
              </a:ext>
            </a:extLst>
          </p:cNvPr>
          <p:cNvSpPr>
            <a:spLocks noGrp="1"/>
          </p:cNvSpPr>
          <p:nvPr/>
        </p:nvSpPr>
        <p:spPr>
          <a:xfrm>
            <a:off x="5915025" y="3689350"/>
            <a:ext cx="7429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6BA997-1DF2-4E7B-A35A-F98B49C0CCA2}"/>
              </a:ext>
            </a:extLst>
          </p:cNvPr>
          <p:cNvSpPr>
            <a:spLocks noGrp="1"/>
          </p:cNvSpPr>
          <p:nvPr/>
        </p:nvSpPr>
        <p:spPr>
          <a:xfrm>
            <a:off x="6543675" y="3629025"/>
            <a:ext cx="1143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5A3590-91F5-40A7-8DF0-39EF5C11619E}"/>
              </a:ext>
            </a:extLst>
          </p:cNvPr>
          <p:cNvSpPr>
            <a:spLocks noGrp="1"/>
          </p:cNvSpPr>
          <p:nvPr/>
        </p:nvSpPr>
        <p:spPr>
          <a:xfrm>
            <a:off x="7934325" y="3689350"/>
            <a:ext cx="742950" cy="2857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480C3C-9561-4F8E-8A3D-57D8A1827676}"/>
              </a:ext>
            </a:extLst>
          </p:cNvPr>
          <p:cNvSpPr>
            <a:spLocks noGrp="1"/>
          </p:cNvSpPr>
          <p:nvPr/>
        </p:nvSpPr>
        <p:spPr>
          <a:xfrm>
            <a:off x="8562975" y="3629025"/>
            <a:ext cx="1143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84DADE-7FD2-49D4-8D71-CCA04E720B7C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4ED"/>
                </a:solidFill>
                <a:latin typeface="Aptos"/>
                <a:ea typeface="Aptos"/>
                <a:cs typeface="Aptos"/>
              </a:rPr>
              <a:t>Wynik skanowania nie zawiera pełnych rekordów APDU. Do pliku przechodzą tylko pola związane ze ścieżkami i ich zamaskowane reprezentacje.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272F7C-FBEA-40D4-9B12-26C9B51B041D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092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6C10049-FD5A-4D11-9CD4-624B874BF0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32E912-983A-487D-9038-5997286EE62D}"/>
              </a:ext>
            </a:extLst>
          </p:cNvPr>
          <p:cNvSpPr>
            <a:spLocks noGrp="1"/>
          </p:cNvSpPr>
          <p:nvPr/>
        </p:nvSpPr>
        <p:spPr>
          <a:xfrm>
            <a:off x="552450" y="428625"/>
            <a:ext cx="247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D8A3D3-8FD7-48BE-94DD-38F93EF6B2D4}"/>
              </a:ext>
            </a:extLst>
          </p:cNvPr>
          <p:cNvSpPr>
            <a:spLocks noGrp="1"/>
          </p:cNvSpPr>
          <p:nvPr/>
        </p:nvSpPr>
        <p:spPr>
          <a:xfrm>
            <a:off x="895350" y="3238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lang="pl-PL" sz="975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PROJEKT: AI – wyszukiwanie Track 1/2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1587E2-578B-4E5C-807F-2BFB73E35B3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3345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Skrypt jest podzielony na warstwę PC/SC, parser EMV i maskowanie.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CCDBA-4E01-4E0C-8171-6CDBB72DABFD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3143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60A5F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78AAD-6170-451B-A2DC-0F91D6D634D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1. Warstwa PC/SC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BA1B0-D67A-4114-8EC5-7BF0A2D48C25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2571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PcscCard ładuje winscard.dll, łączy się z czytnikiem i wysyła APDU przez SCardTransmit.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F47729-35F1-4C19-85E1-37256B6F453F}"/>
              </a:ext>
            </a:extLst>
          </p:cNvPr>
          <p:cNvSpPr>
            <a:spLocks noGrp="1"/>
          </p:cNvSpPr>
          <p:nvPr/>
        </p:nvSpPr>
        <p:spPr>
          <a:xfrm>
            <a:off x="4324350" y="1885950"/>
            <a:ext cx="3143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D2F52E-B574-4FBD-95E2-213AFEAE2D1D}"/>
              </a:ext>
            </a:extLst>
          </p:cNvPr>
          <p:cNvSpPr>
            <a:spLocks noGrp="1"/>
          </p:cNvSpPr>
          <p:nvPr/>
        </p:nvSpPr>
        <p:spPr>
          <a:xfrm>
            <a:off x="4533900" y="209550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2. Parser EMV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FC0684-7D14-44C5-904E-B14E58EC92E2}"/>
              </a:ext>
            </a:extLst>
          </p:cNvPr>
          <p:cNvSpPr>
            <a:spLocks noGrp="1"/>
          </p:cNvSpPr>
          <p:nvPr/>
        </p:nvSpPr>
        <p:spPr>
          <a:xfrm>
            <a:off x="4533900" y="2476500"/>
            <a:ext cx="2571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SELECT, GPO, AFL i READ RECORD ograniczają zakres odczytu do rekordów aplikacji.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486D3B-C929-4A87-BB45-215ED29235CA}"/>
              </a:ext>
            </a:extLst>
          </p:cNvPr>
          <p:cNvSpPr>
            <a:spLocks noGrp="1"/>
          </p:cNvSpPr>
          <p:nvPr/>
        </p:nvSpPr>
        <p:spPr>
          <a:xfrm>
            <a:off x="8096250" y="1885950"/>
            <a:ext cx="3143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8B9756-07F7-4828-A309-15E1C5A18748}"/>
              </a:ext>
            </a:extLst>
          </p:cNvPr>
          <p:cNvSpPr>
            <a:spLocks noGrp="1"/>
          </p:cNvSpPr>
          <p:nvPr/>
        </p:nvSpPr>
        <p:spPr>
          <a:xfrm>
            <a:off x="8305800" y="2095500"/>
            <a:ext cx="2571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3.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8CC157-3C3C-44D2-94CF-24F0E103D173}"/>
              </a:ext>
            </a:extLst>
          </p:cNvPr>
          <p:cNvSpPr>
            <a:spLocks noGrp="1"/>
          </p:cNvSpPr>
          <p:nvPr/>
        </p:nvSpPr>
        <p:spPr>
          <a:xfrm>
            <a:off x="8305800" y="2476500"/>
            <a:ext cx="2571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find_first() szuka tagów ścieżek, a dekodery zwracają wyłącznie zamaskowane obiekty JSON.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E5F46-F8F6-4B3B-8CB7-97DA7140D7DA}"/>
              </a:ext>
            </a:extLst>
          </p:cNvPr>
          <p:cNvSpPr>
            <a:spLocks noGrp="1"/>
          </p:cNvSpPr>
          <p:nvPr/>
        </p:nvSpPr>
        <p:spPr>
          <a:xfrm>
            <a:off x="1485900" y="4000500"/>
            <a:ext cx="8858250" cy="1428750"/>
          </a:xfrm>
          <a:prstGeom prst="rect">
            <a:avLst/>
          </a:prstGeom>
          <a:solidFill>
            <a:srgbClr val="0B1220"/>
          </a:solidFill>
          <a:ln w="9525">
            <a:solidFill>
              <a:srgbClr val="334155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146E8-18FE-415E-8D89-4B88F382BBE7}"/>
              </a:ext>
            </a:extLst>
          </p:cNvPr>
          <p:cNvSpPr>
            <a:spLocks noGrp="1"/>
          </p:cNvSpPr>
          <p:nvPr/>
        </p:nvSpPr>
        <p:spPr>
          <a:xfrm>
            <a:off x="1657350" y="4152900"/>
            <a:ext cx="85153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scan_app_for_tracks(...)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tag 56  -&gt; decode_track1_data(...)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tag 57  -&gt; decode_track2_equivalent(...)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tag 9F6B -&gt; decode_track2_equivalent(...)</a:t>
            </a:r>
          </a:p>
          <a:p>
            <a:endParaRPr sz="1125" b="0">
              <a:solidFill>
                <a:srgbClr val="D1FAE5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json.dumps(report) zapisuje tylko listę "tracks"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DB292C-1E2B-4C1B-98DF-93607760B7AC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927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EDF097-DE0D-4AB2-8C16-FE6B9B7F2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73B627-56A9-4F12-8CE0-E2DBBC8856ED}"/>
              </a:ext>
            </a:extLst>
          </p:cNvPr>
          <p:cNvSpPr>
            <a:spLocks noGrp="1"/>
          </p:cNvSpPr>
          <p:nvPr/>
        </p:nvSpPr>
        <p:spPr>
          <a:xfrm>
            <a:off x="552450" y="428625"/>
            <a:ext cx="247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871B21-DCEB-4D40-B94C-632A93C888F0}"/>
              </a:ext>
            </a:extLst>
          </p:cNvPr>
          <p:cNvSpPr>
            <a:spLocks noGrp="1"/>
          </p:cNvSpPr>
          <p:nvPr/>
        </p:nvSpPr>
        <p:spPr>
          <a:xfrm>
            <a:off x="895350" y="3238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OUTPUT JSON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CE0ED-E680-44C5-AEFD-FC8B48CF9693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3345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Wynik jest krótki i zawiera tylko znalezione ścieżki.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63088-4EE2-45EC-9ACA-E6D74F3E3F97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8191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Przykład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z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aktualnego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trlog_output.json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: Track 2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został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znaleziony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w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tagu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57</a:t>
            </a:r>
            <a:r>
              <a:rPr lang="pl-PL"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  <a:endParaRPr sz="165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707D5-2687-4D0A-93A8-9AAC99EE9139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10668000" cy="333375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AD2504-AFDA-48CA-8622-0FD09F8F8A95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10325100" cy="3028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</a:t>
            </a:r>
            <a:r>
              <a:rPr sz="1125" b="0" dirty="0" err="1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tracks_found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": true,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"track1_count": 0,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"track2_count": 1,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"tracks": [{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"track": "track2",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"tag": "57",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"aid": "A0000000031010",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"</a:t>
            </a:r>
            <a:r>
              <a:rPr sz="1125" b="0" dirty="0" err="1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sfi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": 1,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"record": 2,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"track2_equivalent": {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"track2_masked": "************</a:t>
            </a:r>
            <a:r>
              <a:rPr lang="pl-PL"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**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49D***************",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"</a:t>
            </a:r>
            <a:r>
              <a:rPr sz="1125" b="0" dirty="0" err="1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pan_masked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": "************</a:t>
            </a:r>
            <a:r>
              <a:rPr lang="pl-PL"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**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49",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"</a:t>
            </a:r>
            <a:r>
              <a:rPr sz="1125" b="0" dirty="0" err="1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expiry_yymm_masked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": "</a:t>
            </a:r>
            <a:r>
              <a:rPr lang="pl-PL"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***",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  "</a:t>
            </a:r>
            <a:r>
              <a:rPr sz="1125" b="0" dirty="0" err="1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service_code_masked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": "</a:t>
            </a:r>
            <a:r>
              <a:rPr lang="pl-PL"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</a:t>
            </a: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**"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  }]</a:t>
            </a:r>
          </a:p>
          <a:p>
            <a:pPr algn="l">
              <a:defRPr sz="11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19B7FC-A2B4-4E06-A81E-2B182A225339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275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55D0E8B-11E2-4FE9-9390-D611354F3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769782-6820-4093-8C4E-CE39F6972F47}"/>
              </a:ext>
            </a:extLst>
          </p:cNvPr>
          <p:cNvSpPr>
            <a:spLocks noGrp="1"/>
          </p:cNvSpPr>
          <p:nvPr/>
        </p:nvSpPr>
        <p:spPr>
          <a:xfrm>
            <a:off x="552450" y="428625"/>
            <a:ext cx="24765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4828A-3B8D-41C5-91EA-AD2E4D7B597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3345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defRPr>
            </a:pPr>
            <a:r>
              <a:rPr lang="pl-PL"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Output</a:t>
            </a:r>
            <a:endParaRPr sz="3225" b="1" dirty="0">
              <a:solidFill>
                <a:srgbClr val="F7F4E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1007D-8270-45A6-A24A-7C6ED8568CFF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9810750" cy="495300"/>
          </a:xfrm>
          <a:prstGeom prst="rect">
            <a:avLst/>
          </a:prstGeom>
          <a:solidFill>
            <a:srgbClr val="182B3D"/>
          </a:solidFill>
          <a:ln w="9525">
            <a:solidFill>
              <a:srgbClr val="2638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DB4FC5-2751-4758-B796-C96B13720578}"/>
              </a:ext>
            </a:extLst>
          </p:cNvPr>
          <p:cNvSpPr>
            <a:spLocks noGrp="1"/>
          </p:cNvSpPr>
          <p:nvPr/>
        </p:nvSpPr>
        <p:spPr>
          <a:xfrm>
            <a:off x="1143000" y="2809875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PAN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DEB49D-5FC9-476E-A72A-B0F8588AE4C5}"/>
              </a:ext>
            </a:extLst>
          </p:cNvPr>
          <p:cNvSpPr>
            <a:spLocks noGrp="1"/>
          </p:cNvSpPr>
          <p:nvPr/>
        </p:nvSpPr>
        <p:spPr>
          <a:xfrm>
            <a:off x="3667125" y="27908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DD4BF"/>
                </a:solidFill>
                <a:latin typeface="Aptos Mono"/>
                <a:ea typeface="Aptos Mono"/>
                <a:cs typeface="Aptos Mono"/>
              </a:defRPr>
            </a:pPr>
            <a:r>
              <a:rPr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************</a:t>
            </a:r>
            <a:r>
              <a:rPr lang="pl-PL"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**</a:t>
            </a:r>
            <a:r>
              <a:rPr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49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936D6D-5326-4534-B13F-48C374C76FD2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tylko ostatnie 4 cyfry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56378D-D220-4D81-A372-A1505A6E3D0A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9810750" cy="495300"/>
          </a:xfrm>
          <a:prstGeom prst="rect">
            <a:avLst/>
          </a:prstGeom>
          <a:solidFill>
            <a:srgbClr val="132231"/>
          </a:solidFill>
          <a:ln w="9525">
            <a:solidFill>
              <a:srgbClr val="26384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9FAB9-44CA-43D4-A7E9-0CDA1E4A7284}"/>
              </a:ext>
            </a:extLst>
          </p:cNvPr>
          <p:cNvSpPr>
            <a:spLocks noGrp="1"/>
          </p:cNvSpPr>
          <p:nvPr/>
        </p:nvSpPr>
        <p:spPr>
          <a:xfrm>
            <a:off x="1143000" y="3476625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Expiry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51EDF2-9DEA-4EC3-BB7A-EE5BF629A099}"/>
              </a:ext>
            </a:extLst>
          </p:cNvPr>
          <p:cNvSpPr>
            <a:spLocks noGrp="1"/>
          </p:cNvSpPr>
          <p:nvPr/>
        </p:nvSpPr>
        <p:spPr>
          <a:xfrm>
            <a:off x="3667125" y="345757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DD4BF"/>
                </a:solidFill>
                <a:latin typeface="Aptos Mono"/>
                <a:ea typeface="Aptos Mono"/>
                <a:cs typeface="Aptos Mono"/>
              </a:defRPr>
            </a:pPr>
            <a:r>
              <a:rPr lang="pl-PL"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2</a:t>
            </a:r>
            <a:r>
              <a:rPr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***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C652F-FA3F-40DC-9A4E-6C9E5599E880}"/>
              </a:ext>
            </a:extLst>
          </p:cNvPr>
          <p:cNvSpPr>
            <a:spLocks noGrp="1"/>
          </p:cNvSpPr>
          <p:nvPr/>
        </p:nvSpPr>
        <p:spPr>
          <a:xfrm>
            <a:off x="7239000" y="34671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brak daty ważności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BF16F-5B0A-463E-85D3-93146E4FA6A5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9810750" cy="495300"/>
          </a:xfrm>
          <a:prstGeom prst="rect">
            <a:avLst/>
          </a:prstGeom>
          <a:solidFill>
            <a:srgbClr val="182B3D"/>
          </a:solidFill>
          <a:ln w="9525">
            <a:solidFill>
              <a:srgbClr val="26384B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8B027F-CCDB-402B-9A00-623E6C4C32BD}"/>
              </a:ext>
            </a:extLst>
          </p:cNvPr>
          <p:cNvSpPr>
            <a:spLocks noGrp="1"/>
          </p:cNvSpPr>
          <p:nvPr/>
        </p:nvSpPr>
        <p:spPr>
          <a:xfrm>
            <a:off x="1143000" y="4143375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Service 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C2939D-5687-4C91-AE76-C1F3DC648C6A}"/>
              </a:ext>
            </a:extLst>
          </p:cNvPr>
          <p:cNvSpPr>
            <a:spLocks noGrp="1"/>
          </p:cNvSpPr>
          <p:nvPr/>
        </p:nvSpPr>
        <p:spPr>
          <a:xfrm>
            <a:off x="3667125" y="412432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DD4BF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***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A1AD25-AC01-42D1-A8C5-C0C405E278FB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brak kodu serwisowego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2FFCE0-A818-4AC0-8AB7-75D5FC005ABD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9810750" cy="495300"/>
          </a:xfrm>
          <a:prstGeom prst="rect">
            <a:avLst/>
          </a:prstGeom>
          <a:solidFill>
            <a:srgbClr val="132231"/>
          </a:solidFill>
          <a:ln w="9525">
            <a:solidFill>
              <a:srgbClr val="2638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E6EEC3-1E1E-48A0-9F28-DEABB7FFD7FA}"/>
              </a:ext>
            </a:extLst>
          </p:cNvPr>
          <p:cNvSpPr>
            <a:spLocks noGrp="1"/>
          </p:cNvSpPr>
          <p:nvPr/>
        </p:nvSpPr>
        <p:spPr>
          <a:xfrm>
            <a:off x="1143000" y="4810125"/>
            <a:ext cx="1809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Discretionary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A910E-3B0C-4EF1-85AC-B798037264A1}"/>
              </a:ext>
            </a:extLst>
          </p:cNvPr>
          <p:cNvSpPr>
            <a:spLocks noGrp="1"/>
          </p:cNvSpPr>
          <p:nvPr/>
        </p:nvSpPr>
        <p:spPr>
          <a:xfrm>
            <a:off x="3667125" y="4791075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2DD4BF"/>
                </a:solidFill>
                <a:latin typeface="Aptos Mono"/>
                <a:ea typeface="Aptos Mono"/>
                <a:cs typeface="Aptos Mono"/>
              </a:defRPr>
            </a:pPr>
            <a:r>
              <a:rPr lang="pl-PL"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00</a:t>
            </a:r>
            <a:r>
              <a:rPr sz="1425" b="0" dirty="0">
                <a:solidFill>
                  <a:srgbClr val="2DD4BF"/>
                </a:solidFill>
                <a:latin typeface="Aptos Mono"/>
                <a:ea typeface="Aptos Mono"/>
                <a:cs typeface="Aptos Mono"/>
              </a:rPr>
              <a:t>******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9E5FA5-DA05-43D3-8863-4EAF65928322}"/>
              </a:ext>
            </a:extLst>
          </p:cNvPr>
          <p:cNvSpPr>
            <a:spLocks noGrp="1"/>
          </p:cNvSpPr>
          <p:nvPr/>
        </p:nvSpPr>
        <p:spPr>
          <a:xfrm>
            <a:off x="7239000" y="48006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tylko długość i maska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3427E1-20CA-49B6-8670-9B9926AEE2D5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432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F446D79-AA77-4C09-BFBB-6B442C9258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5055C-DF72-43FC-9E1F-3DC52DF2E524}"/>
              </a:ext>
            </a:extLst>
          </p:cNvPr>
          <p:cNvSpPr>
            <a:spLocks noGrp="1"/>
          </p:cNvSpPr>
          <p:nvPr/>
        </p:nvSpPr>
        <p:spPr>
          <a:xfrm>
            <a:off x="552450" y="428625"/>
            <a:ext cx="247650" cy="28575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DF121-584C-40ED-A0FB-22246C91F627}"/>
              </a:ext>
            </a:extLst>
          </p:cNvPr>
          <p:cNvSpPr>
            <a:spLocks noGrp="1"/>
          </p:cNvSpPr>
          <p:nvPr/>
        </p:nvSpPr>
        <p:spPr>
          <a:xfrm>
            <a:off x="895350" y="3238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6690F-B24D-42FD-89C8-189190036384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93345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7F4ED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Projekt </a:t>
            </a:r>
            <a:r>
              <a:rPr sz="3225" b="1" dirty="0" err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pokazuje</a:t>
            </a:r>
            <a:r>
              <a:rPr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225" b="1" dirty="0" err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odczyt</a:t>
            </a:r>
            <a:r>
              <a:rPr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225" b="1" dirty="0" err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i</a:t>
            </a:r>
            <a:r>
              <a:rPr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225" b="1" dirty="0" err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kontrolę</a:t>
            </a:r>
            <a:r>
              <a:rPr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225" b="1" dirty="0" err="1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danych</a:t>
            </a:r>
            <a:r>
              <a:rPr lang="pl-PL" sz="3225" b="1" dirty="0">
                <a:solidFill>
                  <a:srgbClr val="F7F4ED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3225" b="1" dirty="0">
              <a:solidFill>
                <a:srgbClr val="F7F4E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A3A66-B0D1-47EE-BCC5-8DA05830DDEA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190500" cy="1905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91674-6455-4F98-8BED-292922808A5C}"/>
              </a:ext>
            </a:extLst>
          </p:cNvPr>
          <p:cNvSpPr>
            <a:spLocks noGrp="1"/>
          </p:cNvSpPr>
          <p:nvPr/>
        </p:nvSpPr>
        <p:spPr>
          <a:xfrm>
            <a:off x="1257300" y="193357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Zakres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E04191-9431-41F7-A36D-CCADF06A39D5}"/>
              </a:ext>
            </a:extLst>
          </p:cNvPr>
          <p:cNvSpPr>
            <a:spLocks noGrp="1"/>
          </p:cNvSpPr>
          <p:nvPr/>
        </p:nvSpPr>
        <p:spPr>
          <a:xfrm>
            <a:off x="3581400" y="19145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Skanowane są tylko rekordy wskazane przez EMV AFL i tylko tagi Track 1/2.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86012A-16E4-4771-9B52-07EE92F18DC0}"/>
              </a:ext>
            </a:extLst>
          </p:cNvPr>
          <p:cNvSpPr>
            <a:spLocks noGrp="1"/>
          </p:cNvSpPr>
          <p:nvPr/>
        </p:nvSpPr>
        <p:spPr>
          <a:xfrm>
            <a:off x="800100" y="2771775"/>
            <a:ext cx="190500" cy="1905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1E2A8A-9B2C-4B64-9291-7DFBF2C15091}"/>
              </a:ext>
            </a:extLst>
          </p:cNvPr>
          <p:cNvSpPr>
            <a:spLocks noGrp="1"/>
          </p:cNvSpPr>
          <p:nvPr/>
        </p:nvSpPr>
        <p:spPr>
          <a:xfrm>
            <a:off x="1257300" y="275272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7F4ED"/>
                </a:solidFill>
                <a:latin typeface="Aptos"/>
                <a:ea typeface="Aptos"/>
                <a:cs typeface="Aptos"/>
              </a:rPr>
              <a:t>Porównanie</a:t>
            </a:r>
            <a:endParaRPr sz="1125" b="1" dirty="0">
              <a:solidFill>
                <a:srgbClr val="F7F4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81E03-0988-4FA1-BA4B-5AB07606E03B}"/>
              </a:ext>
            </a:extLst>
          </p:cNvPr>
          <p:cNvSpPr>
            <a:spLocks noGrp="1"/>
          </p:cNvSpPr>
          <p:nvPr/>
        </p:nvSpPr>
        <p:spPr>
          <a:xfrm>
            <a:off x="3581400" y="273367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cyfry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PAN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pozwalają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porównać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kartę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z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outputem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bez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ujawniania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całości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8E5CB4-A222-4DB9-9224-7DD71E95633F}"/>
              </a:ext>
            </a:extLst>
          </p:cNvPr>
          <p:cNvSpPr>
            <a:spLocks noGrp="1"/>
          </p:cNvSpPr>
          <p:nvPr/>
        </p:nvSpPr>
        <p:spPr>
          <a:xfrm>
            <a:off x="800100" y="3648075"/>
            <a:ext cx="190500" cy="1905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233764-42FF-4A55-ABDD-88BB21F3E4D9}"/>
              </a:ext>
            </a:extLst>
          </p:cNvPr>
          <p:cNvSpPr>
            <a:spLocks noGrp="1"/>
          </p:cNvSpPr>
          <p:nvPr/>
        </p:nvSpPr>
        <p:spPr>
          <a:xfrm>
            <a:off x="1257300" y="362902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F7F4ED"/>
                </a:solidFill>
                <a:latin typeface="Aptos"/>
                <a:ea typeface="Aptos"/>
                <a:cs typeface="Aptos"/>
              </a:rPr>
              <a:t>Ograniczenie</a:t>
            </a:r>
            <a:endParaRPr sz="1125" b="1" dirty="0">
              <a:solidFill>
                <a:srgbClr val="F7F4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92F8AD-0C25-45CB-83C9-0ADBC11B8746}"/>
              </a:ext>
            </a:extLst>
          </p:cNvPr>
          <p:cNvSpPr>
            <a:spLocks noGrp="1"/>
          </p:cNvSpPr>
          <p:nvPr/>
        </p:nvSpPr>
        <p:spPr>
          <a:xfrm>
            <a:off x="3581400" y="360997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Jeśli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karta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nie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udostępnia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tagu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56, Track 1 </a:t>
            </a:r>
            <a:r>
              <a:rPr sz="1425" b="0" dirty="0" err="1">
                <a:solidFill>
                  <a:srgbClr val="93A4B7"/>
                </a:solidFill>
                <a:latin typeface="Aptos"/>
                <a:ea typeface="Aptos"/>
                <a:cs typeface="Aptos"/>
              </a:rPr>
              <a:t>pozostanie</a:t>
            </a:r>
            <a:r>
              <a:rPr sz="1425" b="0" dirty="0">
                <a:solidFill>
                  <a:srgbClr val="93A4B7"/>
                </a:solidFill>
                <a:latin typeface="Aptos"/>
                <a:ea typeface="Aptos"/>
                <a:cs typeface="Aptos"/>
              </a:rPr>
              <a:t> count = 0.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E45F1B-7480-487F-A663-A6C307D65585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10001250" cy="1905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ED0F3E-0ACC-481B-96A1-AA3C7713FA85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3A4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4B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64732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580</Words>
  <Application>Microsoft Office PowerPoint</Application>
  <DocSecurity>0</DocSecurity>
  <PresentationFormat>Widescreen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Jakub Aszyk</cp:lastModifiedBy>
  <cp:revision>2</cp:revision>
  <dcterms:created xsi:type="dcterms:W3CDTF">2026-06-08T19:44:19Z</dcterms:created>
  <dcterms:modified xsi:type="dcterms:W3CDTF">2026-06-08T20:27:03Z</dcterms:modified>
</cp:coreProperties>
</file>